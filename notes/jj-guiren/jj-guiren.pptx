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大家好，我是顏志展，大家叫我 JJ 就好。今天沒有準備投影片，我想用比較輕鬆的方式，照時間順序跟大家聊我這二十多年在 IC 設計業的兩次創業。
今天的主題是「互為貴人，同行至遠」。前半段講經營公司踩過的坑，後半段講我怎麼看團隊、看貴人。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我的路大概是這樣：一開始做 PC，接著做 camera 的影像科技，再到 IP camera，然後第二次創業轉到 AI 聲音。
2002 年創辦曜鵬做影像處理晶片，2015 年併入聯發科集團。2016 年我再出來創辦意騰，做 AI 聲學，2025 年上市。兩家公司加起來，剛好走過人機介面的好幾個世代。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我常說經營公司就像變色龍，要跟著大環境改變自己。變化一定有壓力，但那是必經的過程。
選擇很重要，但不是每件事都要堅持到底，有些要堅持，有些要調整。還有一點：不是自己很強就好，就算你自己能做出更好的決定，也不夠，要把團隊建立起來。等你有能力的時候，記得拉別人一把。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第一個教訓是從創辦人變成經理人的過程。剛開始創業，什麼都自己來很正常。但如果一直事必躬親，所有事情都等你下決定，你會累死。
更大的問題是公司沒辦法長大。決策都卡在你一個人身上，公司的規模就是你一個人的極限。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第二個教訓更痛。曜鵬那時候我們效率很高，我自己什麼都參與，參與得太雜太多，結果沒有多的精力去看兩三年後的未來。
手機的大生意進來了，看起來很好。但如果訂單不來了怎麼辦？兩年後訂單真的消失了，我們只能一直救火，同時才開始想下一個產品線、下一個前景。沒提前想，就會卡在原來的產品線上。那時公司大概 150 人。所以我的體會是：創辦人如果只關注今天的事情，就會放棄明天的事情。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第三個教訓跟夥伴有關。公司有了盈餘，開始走向資本市場、掛興櫃，外界的評價、股價都會讓每個人的處境改變。
一起創業的夥伴，人生規劃也會跟著變。我的心得是：不論再怎麼熟的朋友夥伴，都一樣要用合約、信託，白紙黑字把事情定義清楚。這不是不信任，而是對公司、也對夥伴的保護。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第二次創業，我想用深度學習做點不一樣的事。IC 設計要拚量不容易，所以要挑一個有一定市場、有一定量的題目。
我看了很多論文，發現台灣幾代 IC 設計公司，幾乎都是跟著人機介面起來的：鍵盤、滑鼠、觸控。我判斷下一個介面是語音，誰掌握 AI 聲學，誰就有機會。AI 在不同領域會發展出不同應用，不容易被大公司壟斷，很適合新創投入。我是看了一篇 paper 之後決定跳下去的。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意騰的第一顆晶片，技術上是對的，它解決了傳統 DSP 解決不了的問題。我們辦了很大的發表會，在吵雜的環境裡也能把人聲留下來。
可是手機客戶的著眼點是噱頭，要的是新特色，不是剛需，也不想多花錢。第一支手機用了大約 20 萬顆，之後兩年，出貨量是零。技術對了，但太早、沒市場，一樣是失敗。所以產品要好、技術要好，市場定位也要好。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 年我們做了策略調整。第一，不只賣晶片，也賣演算法 IP，讓客戶不必多放一顆晶片。第二，市場從價格敏感的客戶，轉向重視品質和差異化的歐美日客戶。
第三最難：公司內部要轉型，硬體工程師要去做軟體，一定有很多批評和質疑，只能慢慢調整，原則就是公司的最大利益。這不是放棄 IC 設計，而是體會到經營者要堅持幫客戶解決問題。技術再好，客戶賣不出去也沒用。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很多人以為創業很有趣，其實沒有那麼有趣。你要有足夠的自我驅動力，還有耐力，才能一直執行下去。
我常有「凝視深淵」的感覺：你做錯一個決策，公司就可能倒閉，隨時會掉進深淵。這是對自己責任的要求。但同時也要樂在其中，給自己鼓勵、有自己的觀點、證明自己，才走得下去。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回頭看，創辦人要走過三個位置。階段一是事必躬親，技術、產品、市場、團隊、投資人，都要親自投入。
階段二是總經理。公司有初步成果，新血會進來，早期夥伴跟新血一定會有衝突。處理元老問題，我的原則是公司最大利益，把對的人擺在對的位置。階段三是董事長，我必須提醒自己：董事長不是解決今天的問題，而是看三年後的遠景。把營運交給總經理之後，還要真的相信他，這很難，所以要長期溝通、建立長期合作的共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今天的成功，不代表明天的競爭力。市場一直在變，能讓公司一直走下去的，是建立一支強而有力、負責任的團隊。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最後想跟大家聊貴人。什麼是貴人？有困難的時候給你幫助、給你機會和資源的人。客戶願意相信你，其實也是貴人。創業初期願意跟著你的人、遇到困難不願意離開的人，都是貴人。
願意指出你盲點、啟發你的人，也是貴人。對我來說，連小孩也是我的貴人，讓我願意跨出舒適圈。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不過我覺得「互為」這兩個字更重要。別人當你的貴人，你要用產品和服務去回應。
我們曾經有客戶的高層採用了我們的晶片，結果出了問題，壓力非常大。我們把團隊整個派到客戶那邊，睡行軍床，半夜也在 review，兩個禮拜把問題解決。之後再做專案，彼此就有了信任，互相成就。這就是互為貴人。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最後送大家一句話：「看人之短，天下無一可交之人；看人之長，世間一切盡是吾師。」
如果你一直盯著別人的缺點，身邊就沒有可以合作的人；懂得看別人的長處，每個人都是你的老師，也都可能成為你的貴人。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今天就分享到這裡，謝謝大家。希望大家在自己的路上，都能遇到貴人，也成為別人的貴人。互為貴人，同行至遠。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互為貴人，同行至遠｜顏志展 JJ 創業分享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互為貴人，同行至遠｜顏志展 JJ 創業分享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35040" y="2377440"/>
            <a:ext cx="4023360" cy="4023360"/>
          </a:xfrm>
          <a:prstGeom prst="ellipse">
            <a:avLst/>
          </a:prstGeom>
          <a:solidFill>
            <a:srgbClr val="14202D">
              <a:alpha val="0"/>
            </a:srgbClr>
          </a:solidFill>
          <a:ln w="19050">
            <a:solidFill>
              <a:srgbClr val="D9A84E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040880" y="3291840"/>
            <a:ext cx="2377440" cy="2377440"/>
          </a:xfrm>
          <a:prstGeom prst="ellipse">
            <a:avLst/>
          </a:prstGeom>
          <a:solidFill>
            <a:srgbClr val="14202D">
              <a:alpha val="0"/>
            </a:srgbClr>
          </a:solidFill>
          <a:ln w="19050">
            <a:solidFill>
              <a:srgbClr val="D9A84E">
                <a:alpha val="2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A8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2026.10.15　交大高階經理人培訓班 第 40 屆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互為貴人，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同行至遠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從曜鵬到意騰：兩次 IC 設計創業的經營心得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顏志展 JJ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意騰科技 董事長暨總經理｜交大電工 77 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我的路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從影像到聲音，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跟著介面走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0574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曜鵬科技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15468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影像處理晶片，從 PC 相機做到手機與 IP Camera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304288" y="278892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42616" y="187452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25496" y="20574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825496" y="24231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併入聯發科集團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2825496" y="315468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第一家公司找到歸宿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398264" y="278892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736592" y="187452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19472" y="20574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2016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919472" y="24231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意騰科技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4919472" y="315468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第二次創業，選擇 AI 聲學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278892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830568" y="187452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13448" y="20574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13448" y="24231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上市掛牌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7013448" y="315468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授權＋AI 晶片雙引擎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經營心法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經營公司，就像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變色龍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1764792"/>
            <a:ext cx="7516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跟著大環境改變自己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350008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8992" y="2331720"/>
            <a:ext cx="7516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變化是壓力，也是必經的過程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916936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2898648"/>
            <a:ext cx="7516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選擇很重要：有些要堅持，有些要調整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1E6CF"/>
          </a:solidFill>
          <a:ln w="12700">
            <a:solidFill>
              <a:srgbClr val="F1E6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950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不是自己強就好：要把團隊建立起來；有能力的時候，拉別人一把。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第一課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從創辦人到經理人：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不能事必躬親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14202D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574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「每件事都等你下決定，你會累死。」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0624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36592" y="1947672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剛開始什麼都自己來很正常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715768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0624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36592" y="269748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但決策都卡在你身上，公司就長不大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06240" y="3465576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0624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736592" y="3447288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公司要長大，決策要能分出去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第二課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只顧今天，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就會放棄明天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 人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曜鵬當時的規模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82880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822192" y="1810512"/>
            <a:ext cx="4773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我什麼都參與，太雜太多，沒有餘力看兩三年後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91840" y="2432304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822192" y="2414016"/>
            <a:ext cx="4773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大客戶生意進來，兩年後訂單消失，只能天天救火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91840" y="3035808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9184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822192" y="3017520"/>
            <a:ext cx="4773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沒提前想下一條產品線，就被卡在原來的產品線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1E6CF"/>
          </a:solidFill>
          <a:ln w="12700">
            <a:solidFill>
              <a:srgbClr val="F1E6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950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創辦人如果只關注今天的事，就等於放棄了明天。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第三課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再熟的夥伴，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也要白紙黑字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公司開始賺錢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走向資本市場，外界評價與股價會改變每個人的處境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夥伴人生會變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一起打拚的夥伴，人生規劃也會跟著改變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事先講清楚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用合約、信託寫下權利義務，對公司和夥伴都是保護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第二次創業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為什麼選 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聲學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鍵盤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1737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0320" y="169164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03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1737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0" y="169164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觸控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1737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583680" y="169164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B07D2B"/>
          </a:solidFill>
          <a:ln w="9525">
            <a:solidFill>
              <a:srgbClr val="B07D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256032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78992" y="2542032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 年深度學習起來，我讀了很多論文，看見人機介面的下一步是語音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3163824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78992" y="3145536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 設計比量不容易，要挑一個有一定市場和量的新題目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3767328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78992" y="374904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在不同領域會長出不同應用，不容易被大公司壟斷，適合新創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低谷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技術對了，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太早也是失敗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萬顆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第一支手機的出貨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7830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0320" y="2011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接下來兩年的出貨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82880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193792" y="181051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第一顆晶片解決了傳統 DSP 解決不了的降噪問題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2432304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193792" y="2414016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手機客戶把它當噱頭，不是剛需，不想多花錢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663440" y="3035808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193792" y="301752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沒有市場的好技術，一樣撐不起公司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1E6CF"/>
          </a:solidFill>
          <a:ln w="12700">
            <a:solidFill>
              <a:srgbClr val="F1E6C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3950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產品要好、技術要好，市場定位也要好。三個缺一個都不行。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轉彎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 年的策略調整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不只賣晶片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06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把演算法做成 IP，嵌進客戶原本的晶片，降低導入門檻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91840" y="16916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148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換市場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606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從價格敏感的客戶，轉向重視品質與差異化的歐美日品牌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16916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148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換腦袋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606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硬體工程師要做軟體，內外都有質疑，只能一步步調整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1E6CF"/>
          </a:solidFill>
          <a:ln w="12700">
            <a:solidFill>
              <a:srgbClr val="F1E6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9502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經營者要堅持幫客戶解決問題。IC 設計技術再好，客戶賣不出去也沒有用。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14202D">
              <a:alpha val="0"/>
            </a:srgbClr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A8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創業者的心理素質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凝視深淵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創業沒有那麼有趣。你需要足夠的自我驅動力和耐力；你做的一個決策，就可能讓公司掉進深淵。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對自己的責任有要求，但也要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D9A8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樂在其中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：給自己鼓勵，找到證明自己的方式。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角色轉換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創辦人要走過的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三個位置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47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76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事必躬親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974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技術、產品、市場、團隊、投資人，親自投入，說明方向怎麼做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278892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1847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176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6974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新血加入，與元老難免衝突。原則是公司最大利益，把對的人放在對的位置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278892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69164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847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176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董事長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69748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7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不是解決今天的問題，是預判三年後。授權總經理、真的相信他，並長期溝通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35040" y="2377440"/>
            <a:ext cx="4023360" cy="4023360"/>
          </a:xfrm>
          <a:prstGeom prst="ellipse">
            <a:avLst/>
          </a:prstGeom>
          <a:solidFill>
            <a:srgbClr val="14202D">
              <a:alpha val="0"/>
            </a:srgbClr>
          </a:solidFill>
          <a:ln w="19050">
            <a:solidFill>
              <a:srgbClr val="D9A84E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040880" y="3291840"/>
            <a:ext cx="2377440" cy="2377440"/>
          </a:xfrm>
          <a:prstGeom prst="ellipse">
            <a:avLst/>
          </a:prstGeom>
          <a:solidFill>
            <a:srgbClr val="14202D">
              <a:alpha val="0"/>
            </a:srgbClr>
          </a:solidFill>
          <a:ln w="19050">
            <a:solidFill>
              <a:srgbClr val="D9A84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14202D">
              <a:alpha val="0"/>
            </a:srgbClr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A8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972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今天的成功，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不代表明天的競爭力。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能讓公司走下去的，是一支強而有力、願意負責的團隊。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互為貴人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誰是你的</a:t>
            </a:r>
            <a:pPr indent="0" marL="0">
              <a:buNone/>
            </a:pPr>
            <a:r>
              <a:rPr lang="en-US" sz="3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貴人</a:t>
            </a:r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928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困難時給你幫助的人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50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給機會、給資源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6916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8928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願意相信你的客戶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350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相信，本身就是機會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6916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8928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初期願意跟著你的人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350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什麼都沒有時就來了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063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264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遇到困難不離開的人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721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低谷時還在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3063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20440" y="3264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願意指出盲點的人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3721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說真話、給啟發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35040" y="3063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6F2EA"/>
          </a:solidFill>
          <a:ln w="9525">
            <a:solidFill>
              <a:srgbClr val="E3D8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63640" y="3264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連孩子也是貴人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3721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讓你跨出舒適圈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互為貴人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14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07D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互為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這兩個字，比貴人更重要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931920" y="123444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462272" y="1216152"/>
            <a:ext cx="41330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用產品和服務，回應別人給你的信任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920" y="210312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462272" y="2084832"/>
            <a:ext cx="41330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客戶遇到難關，團隊到現場日夜一起解決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31920" y="2971800"/>
            <a:ext cx="347472" cy="347472"/>
          </a:xfrm>
          <a:prstGeom prst="ellipse">
            <a:avLst/>
          </a:prstGeom>
          <a:solidFill>
            <a:srgbClr val="B07D2B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462272" y="2953512"/>
            <a:ext cx="41330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之後的合作建立在信任上，互相成就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14202D">
              <a:alpha val="0"/>
            </a:srgbClr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A8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看人之長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看人之短，天下無一可交之人；</a:t>
            </a:r>
            <a:endParaRPr lang="en-US" sz="3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看人之長，世間一切盡是吾師。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A8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相傳為司馬懿語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35040" y="2377440"/>
            <a:ext cx="4023360" cy="4023360"/>
          </a:xfrm>
          <a:prstGeom prst="ellipse">
            <a:avLst/>
          </a:prstGeom>
          <a:solidFill>
            <a:srgbClr val="14202D">
              <a:alpha val="0"/>
            </a:srgbClr>
          </a:solidFill>
          <a:ln w="19050">
            <a:solidFill>
              <a:srgbClr val="D9A84E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040880" y="3291840"/>
            <a:ext cx="2377440" cy="2377440"/>
          </a:xfrm>
          <a:prstGeom prst="ellipse">
            <a:avLst/>
          </a:prstGeom>
          <a:solidFill>
            <a:srgbClr val="14202D">
              <a:alpha val="0"/>
            </a:srgbClr>
          </a:solidFill>
          <a:ln w="19050">
            <a:solidFill>
              <a:srgbClr val="D9A84E">
                <a:alpha val="2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475488"/>
            <a:ext cx="146304" cy="146304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75488"/>
            <a:ext cx="146304" cy="146304"/>
          </a:xfrm>
          <a:prstGeom prst="ellipse">
            <a:avLst/>
          </a:prstGeom>
          <a:solidFill>
            <a:srgbClr val="14202D">
              <a:alpha val="0"/>
            </a:srgbClr>
          </a:solidFill>
          <a:ln w="12700">
            <a:solidFill>
              <a:srgbClr val="D9A8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A8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43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3EE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互為貴人，同行至遠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謝謝學長毫無保留的分享。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91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交大高階經理人培訓班 第 40 屆　成育典 整理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簡報與逐字稿依課堂筆記重建，非現場逐字紀錄；歡迎學長自由修改使用。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互為貴人，同行至遠</dc:title>
  <dc:subject>PptxGenJS Presentation</dc:subject>
  <dc:creator>成育典</dc:creator>
  <cp:lastModifiedBy>成育典</cp:lastModifiedBy>
  <cp:revision>1</cp:revision>
  <dcterms:created xsi:type="dcterms:W3CDTF">2026-10-15T12:29:40Z</dcterms:created>
  <dcterms:modified xsi:type="dcterms:W3CDTF">2026-10-15T12:29:40Z</dcterms:modified>
</cp:coreProperties>
</file>